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Lst>
  <p:notesMasterIdLst>
    <p:notesMasterId r:id="rId14"/>
  </p:notesMasterIdLst>
  <p:sldIdLst>
    <p:sldId id="256" r:id="rId2"/>
    <p:sldId id="257" r:id="rId3"/>
    <p:sldId id="275" r:id="rId4"/>
    <p:sldId id="258" r:id="rId5"/>
    <p:sldId id="285" r:id="rId6"/>
    <p:sldId id="298" r:id="rId7"/>
    <p:sldId id="303" r:id="rId8"/>
    <p:sldId id="302" r:id="rId9"/>
    <p:sldId id="301" r:id="rId10"/>
    <p:sldId id="265" r:id="rId11"/>
    <p:sldId id="300" r:id="rId12"/>
    <p:sldId id="29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51E60CD-A886-4BB4-B9F3-AA905136533D}">
          <p14:sldIdLst>
            <p14:sldId id="256"/>
            <p14:sldId id="257"/>
            <p14:sldId id="275"/>
            <p14:sldId id="258"/>
            <p14:sldId id="285"/>
            <p14:sldId id="298"/>
            <p14:sldId id="303"/>
            <p14:sldId id="302"/>
            <p14:sldId id="301"/>
            <p14:sldId id="265"/>
            <p14:sldId id="300"/>
            <p14:sldId id="29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421" autoAdjust="0"/>
  </p:normalViewPr>
  <p:slideViewPr>
    <p:cSldViewPr snapToGrid="0">
      <p:cViewPr varScale="1">
        <p:scale>
          <a:sx n="69" d="100"/>
          <a:sy n="69" d="100"/>
        </p:scale>
        <p:origin x="564" y="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CF4995-324E-49E3-99D3-5091A54B4D19}" type="datetimeFigureOut">
              <a:rPr lang="en-IN" smtClean="0"/>
              <a:pPr/>
              <a:t>25-11-2025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8236F9-1F31-4CBB-A0B6-5A0A0AAFAB6E}" type="slidenum">
              <a:rPr lang="en-IN" smtClean="0"/>
              <a:pPr/>
              <a:t>‹#›</a:t>
            </a:fld>
            <a:endParaRPr lang="en-IN"/>
          </a:p>
        </p:txBody>
      </p:sp>
    </p:spTree>
    <p:extLst>
      <p:ext uri="{BB962C8B-B14F-4D97-AF65-F5344CB8AC3E}">
        <p14:creationId xmlns:p14="http://schemas.microsoft.com/office/powerpoint/2010/main" val="1524635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8236F9-1F31-4CBB-A0B6-5A0A0AAFAB6E}" type="slidenum">
              <a:rPr lang="en-IN" smtClean="0"/>
              <a:pPr/>
              <a:t>4</a:t>
            </a:fld>
            <a:endParaRPr lang="en-IN"/>
          </a:p>
        </p:txBody>
      </p:sp>
    </p:spTree>
    <p:extLst>
      <p:ext uri="{BB962C8B-B14F-4D97-AF65-F5344CB8AC3E}">
        <p14:creationId xmlns:p14="http://schemas.microsoft.com/office/powerpoint/2010/main" val="3086618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8236F9-1F31-4CBB-A0B6-5A0A0AAFAB6E}" type="slidenum">
              <a:rPr lang="en-IN" smtClean="0"/>
              <a:pPr/>
              <a:t>5</a:t>
            </a:fld>
            <a:endParaRPr lang="en-IN"/>
          </a:p>
        </p:txBody>
      </p:sp>
    </p:spTree>
    <p:extLst>
      <p:ext uri="{BB962C8B-B14F-4D97-AF65-F5344CB8AC3E}">
        <p14:creationId xmlns:p14="http://schemas.microsoft.com/office/powerpoint/2010/main" val="3284174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8236F9-1F31-4CBB-A0B6-5A0A0AAFAB6E}" type="slidenum">
              <a:rPr lang="en-IN" smtClean="0"/>
              <a:pPr/>
              <a:t>6</a:t>
            </a:fld>
            <a:endParaRPr lang="en-IN"/>
          </a:p>
        </p:txBody>
      </p:sp>
    </p:spTree>
    <p:extLst>
      <p:ext uri="{BB962C8B-B14F-4D97-AF65-F5344CB8AC3E}">
        <p14:creationId xmlns:p14="http://schemas.microsoft.com/office/powerpoint/2010/main" val="3351651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8236F9-1F31-4CBB-A0B6-5A0A0AAFAB6E}" type="slidenum">
              <a:rPr lang="en-IN" smtClean="0"/>
              <a:pPr/>
              <a:t>10</a:t>
            </a:fld>
            <a:endParaRPr lang="en-IN"/>
          </a:p>
        </p:txBody>
      </p:sp>
    </p:spTree>
    <p:extLst>
      <p:ext uri="{BB962C8B-B14F-4D97-AF65-F5344CB8AC3E}">
        <p14:creationId xmlns:p14="http://schemas.microsoft.com/office/powerpoint/2010/main" val="2029896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327253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1112917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3938360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2060261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2932713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4153926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3481454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3092742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326358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1387745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12113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3980555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290282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3303845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28186735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88406-BEC8-42E3-A225-C6D3EF11A0D1}" type="datetimeFigureOut">
              <a:rPr lang="en-IN" smtClean="0"/>
              <a:pPr/>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77441-4581-42C8-81F8-15D8BB691223}" type="slidenum">
              <a:rPr lang="en-IN" smtClean="0"/>
              <a:pPr/>
              <a:t>‹#›</a:t>
            </a:fld>
            <a:endParaRPr lang="en-IN"/>
          </a:p>
        </p:txBody>
      </p:sp>
    </p:spTree>
    <p:extLst>
      <p:ext uri="{BB962C8B-B14F-4D97-AF65-F5344CB8AC3E}">
        <p14:creationId xmlns:p14="http://schemas.microsoft.com/office/powerpoint/2010/main" val="1748861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2288406-BEC8-42E3-A225-C6D3EF11A0D1}" type="datetimeFigureOut">
              <a:rPr lang="en-IN" smtClean="0"/>
              <a:pPr/>
              <a:t>25-11-2025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4577441-4581-42C8-81F8-15D8BB691223}" type="slidenum">
              <a:rPr lang="en-IN" smtClean="0"/>
              <a:pPr/>
              <a:t>‹#›</a:t>
            </a:fld>
            <a:endParaRPr lang="en-IN"/>
          </a:p>
        </p:txBody>
      </p:sp>
    </p:spTree>
    <p:extLst>
      <p:ext uri="{BB962C8B-B14F-4D97-AF65-F5344CB8AC3E}">
        <p14:creationId xmlns:p14="http://schemas.microsoft.com/office/powerpoint/2010/main" val="345322439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pavankalyan003"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kaggle.com/datasets/mahirkukreja/delhi-weather-dat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85AE511-7F3E-407A-1B62-3B083DF76F11}"/>
              </a:ext>
            </a:extLst>
          </p:cNvPr>
          <p:cNvSpPr>
            <a:spLocks noGrp="1"/>
          </p:cNvSpPr>
          <p:nvPr>
            <p:ph type="title"/>
          </p:nvPr>
        </p:nvSpPr>
        <p:spPr>
          <a:xfrm>
            <a:off x="1730477" y="1720101"/>
            <a:ext cx="8323386" cy="1787994"/>
          </a:xfrm>
        </p:spPr>
        <p:txBody>
          <a:bodyPr>
            <a:normAutofit fontScale="90000"/>
          </a:bodyPr>
          <a:lstStyle/>
          <a:p>
            <a:pPr algn="ctr"/>
            <a:r>
              <a:rPr lang="en-IN" dirty="0"/>
              <a:t>   </a:t>
            </a:r>
            <a:br>
              <a:rPr lang="en-IN" dirty="0"/>
            </a:br>
            <a:r>
              <a:rPr lang="en-IN" sz="3600" dirty="0">
                <a:solidFill>
                  <a:schemeClr val="tx1"/>
                </a:solidFill>
                <a:latin typeface="Times New Roman" pitchFamily="18" charset="0"/>
                <a:cs typeface="Times New Roman" pitchFamily="18" charset="0"/>
              </a:rPr>
              <a:t>AI &amp; ML</a:t>
            </a:r>
            <a:r>
              <a:rPr lang="en-IN" dirty="0">
                <a:solidFill>
                  <a:schemeClr val="tx1"/>
                </a:solidFill>
              </a:rPr>
              <a:t> </a:t>
            </a:r>
            <a:r>
              <a:rPr lang="en-IN" sz="3600" dirty="0">
                <a:solidFill>
                  <a:schemeClr val="tx1"/>
                </a:solidFill>
                <a:latin typeface="Times New Roman" panose="02020603050405020304" pitchFamily="18" charset="0"/>
                <a:cs typeface="Times New Roman" panose="02020603050405020304" pitchFamily="18" charset="0"/>
              </a:rPr>
              <a:t>Laboratory Project</a:t>
            </a:r>
            <a:br>
              <a:rPr lang="en-IN" sz="3600" dirty="0">
                <a:solidFill>
                  <a:schemeClr val="tx1"/>
                </a:solidFill>
                <a:latin typeface="Times New Roman" panose="02020603050405020304" pitchFamily="18" charset="0"/>
                <a:cs typeface="Times New Roman" panose="02020603050405020304" pitchFamily="18" charset="0"/>
              </a:rPr>
            </a:br>
            <a:r>
              <a:rPr lang="en-IN" sz="3600" dirty="0">
                <a:solidFill>
                  <a:schemeClr val="tx1"/>
                </a:solidFill>
                <a:latin typeface="Times New Roman" panose="02020603050405020304" pitchFamily="18" charset="0"/>
                <a:cs typeface="Times New Roman" panose="02020603050405020304" pitchFamily="18" charset="0"/>
              </a:rPr>
              <a:t>on</a:t>
            </a:r>
            <a:br>
              <a:rPr lang="en-IN" sz="3600" dirty="0">
                <a:solidFill>
                  <a:schemeClr val="tx1"/>
                </a:solidFill>
                <a:latin typeface="Times New Roman" panose="02020603050405020304" pitchFamily="18" charset="0"/>
                <a:cs typeface="Times New Roman" panose="02020603050405020304" pitchFamily="18" charset="0"/>
              </a:rPr>
            </a:br>
            <a:r>
              <a:rPr lang="en-IN" sz="3600" dirty="0">
                <a:solidFill>
                  <a:schemeClr val="accent2">
                    <a:lumMod val="75000"/>
                  </a:schemeClr>
                </a:solidFill>
                <a:latin typeface="Times New Roman" panose="02020603050405020304" pitchFamily="18" charset="0"/>
                <a:cs typeface="Times New Roman" panose="02020603050405020304" pitchFamily="18" charset="0"/>
              </a:rPr>
              <a:t>Predicting Weather Patterns</a:t>
            </a:r>
          </a:p>
        </p:txBody>
      </p:sp>
      <p:sp>
        <p:nvSpPr>
          <p:cNvPr id="3" name="Subtitle 2">
            <a:extLst>
              <a:ext uri="{FF2B5EF4-FFF2-40B4-BE49-F238E27FC236}">
                <a16:creationId xmlns:a16="http://schemas.microsoft.com/office/drawing/2014/main" id="{010B2C8A-546F-1456-4E39-98F18B3F6D03}"/>
              </a:ext>
            </a:extLst>
          </p:cNvPr>
          <p:cNvSpPr>
            <a:spLocks noGrp="1"/>
          </p:cNvSpPr>
          <p:nvPr>
            <p:ph type="body" idx="1"/>
          </p:nvPr>
        </p:nvSpPr>
        <p:spPr>
          <a:xfrm>
            <a:off x="-127821" y="3508096"/>
            <a:ext cx="9942653" cy="4142770"/>
          </a:xfrm>
        </p:spPr>
        <p:txBody>
          <a:bodyPr>
            <a:normAutofit fontScale="92500" lnSpcReduction="20000"/>
          </a:bodyPr>
          <a:lstStyle/>
          <a:p>
            <a:pPr algn="just"/>
            <a:r>
              <a:rPr lang="en-IN" dirty="0"/>
              <a:t>                                                       	</a:t>
            </a:r>
            <a:r>
              <a:rPr lang="en-IN"/>
              <a:t>	</a:t>
            </a:r>
            <a:r>
              <a:rPr lang="en-IN" sz="2600">
                <a:latin typeface="Times New Roman" panose="02020603050405020304" pitchFamily="18" charset="0"/>
                <a:cs typeface="Times New Roman" panose="02020603050405020304" pitchFamily="18" charset="0"/>
              </a:rPr>
              <a:t>Rishi Chand  (2203A51333)</a:t>
            </a:r>
            <a:endParaRPr lang="en-IN" sz="2600" dirty="0">
              <a:latin typeface="Times New Roman" panose="02020603050405020304" pitchFamily="18" charset="0"/>
              <a:cs typeface="Times New Roman" panose="02020603050405020304" pitchFamily="18" charset="0"/>
            </a:endParaRPr>
          </a:p>
          <a:p>
            <a:pPr algn="ctr"/>
            <a:r>
              <a:rPr lang="en-IN" sz="2600" dirty="0">
                <a:latin typeface="Times New Roman" panose="02020603050405020304" pitchFamily="18" charset="0"/>
                <a:cs typeface="Times New Roman" panose="02020603050405020304" pitchFamily="18" charset="0"/>
              </a:rPr>
              <a:t>           			</a:t>
            </a:r>
          </a:p>
          <a:p>
            <a:pPr algn="ctr"/>
            <a:r>
              <a:rPr lang="en-IN" sz="2600" dirty="0">
                <a:latin typeface="Times New Roman" panose="02020603050405020304" pitchFamily="18" charset="0"/>
                <a:cs typeface="Times New Roman" panose="02020603050405020304" pitchFamily="18" charset="0"/>
              </a:rPr>
              <a:t>                      - UNDER  THE GUIDANCE OF</a:t>
            </a:r>
          </a:p>
          <a:p>
            <a:pPr algn="ctr"/>
            <a:r>
              <a:rPr lang="en-IN" sz="2600" dirty="0">
                <a:latin typeface="Times New Roman" panose="02020603050405020304" pitchFamily="18" charset="0"/>
                <a:cs typeface="Times New Roman" panose="02020603050405020304" pitchFamily="18" charset="0"/>
              </a:rPr>
              <a:t>                    Dr .Soumik Podder </a:t>
            </a:r>
          </a:p>
          <a:p>
            <a:pPr algn="ctr"/>
            <a:r>
              <a:rPr lang="en-IN" sz="2600" dirty="0">
                <a:latin typeface="Times New Roman" panose="02020603050405020304" pitchFamily="18" charset="0"/>
                <a:cs typeface="Times New Roman" panose="02020603050405020304" pitchFamily="18" charset="0"/>
              </a:rPr>
              <a:t>                       School of Computer Science &amp; Artificial Intelligence </a:t>
            </a:r>
          </a:p>
          <a:p>
            <a:pPr algn="ctr"/>
            <a:r>
              <a:rPr lang="en-IN" sz="2600" dirty="0">
                <a:latin typeface="Times New Roman" panose="02020603050405020304" pitchFamily="18" charset="0"/>
                <a:cs typeface="Times New Roman" panose="02020603050405020304" pitchFamily="18" charset="0"/>
              </a:rPr>
              <a:t>             SR University </a:t>
            </a:r>
          </a:p>
          <a:p>
            <a:pPr algn="ctr"/>
            <a:r>
              <a:rPr lang="en-IN" sz="2600" dirty="0">
                <a:latin typeface="Times New Roman" panose="02020603050405020304" pitchFamily="18" charset="0"/>
                <a:cs typeface="Times New Roman" panose="02020603050405020304" pitchFamily="18" charset="0"/>
              </a:rPr>
              <a:t>        2024      </a:t>
            </a:r>
            <a:r>
              <a:rPr lang="en-IN" sz="2800" dirty="0">
                <a:latin typeface="Times New Roman" panose="02020603050405020304" pitchFamily="18" charset="0"/>
                <a:cs typeface="Times New Roman" panose="02020603050405020304" pitchFamily="18" charset="0"/>
              </a:rPr>
              <a:t>        </a:t>
            </a:r>
            <a:r>
              <a:rPr lang="en-IN" sz="2800" dirty="0"/>
              <a:t>                         </a:t>
            </a:r>
          </a:p>
          <a:p>
            <a:endParaRPr lang="en-IN" dirty="0"/>
          </a:p>
          <a:p>
            <a:r>
              <a:rPr lang="en-IN" dirty="0"/>
              <a:t>                                                                                                </a:t>
            </a:r>
          </a:p>
          <a:p>
            <a:r>
              <a:rPr lang="en-IN" dirty="0"/>
              <a:t>                                                               /                                </a:t>
            </a:r>
          </a:p>
        </p:txBody>
      </p:sp>
      <p:pic>
        <p:nvPicPr>
          <p:cNvPr id="5" name="Picture 4">
            <a:extLst>
              <a:ext uri="{FF2B5EF4-FFF2-40B4-BE49-F238E27FC236}">
                <a16:creationId xmlns:a16="http://schemas.microsoft.com/office/drawing/2014/main" id="{F68C5375-405E-C9BD-92F8-A8E8B606CB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7227" y="340760"/>
            <a:ext cx="5585944" cy="1379340"/>
          </a:xfrm>
          <a:prstGeom prst="rect">
            <a:avLst/>
          </a:prstGeom>
        </p:spPr>
      </p:pic>
    </p:spTree>
    <p:extLst>
      <p:ext uri="{BB962C8B-B14F-4D97-AF65-F5344CB8AC3E}">
        <p14:creationId xmlns:p14="http://schemas.microsoft.com/office/powerpoint/2010/main" val="295215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342BA7-3697-DAC9-DF1C-570E4010B833}"/>
              </a:ext>
            </a:extLst>
          </p:cNvPr>
          <p:cNvSpPr>
            <a:spLocks noGrp="1"/>
          </p:cNvSpPr>
          <p:nvPr>
            <p:ph type="title"/>
          </p:nvPr>
        </p:nvSpPr>
        <p:spPr>
          <a:xfrm>
            <a:off x="491475" y="689698"/>
            <a:ext cx="9603275" cy="887871"/>
          </a:xfrm>
        </p:spPr>
        <p:txBody>
          <a:bodyPr>
            <a:normAutofit/>
          </a:bodyPr>
          <a:lstStyle/>
          <a:p>
            <a:r>
              <a:rPr lang="en-IN" dirty="0"/>
              <a:t>Plan of Talk</a:t>
            </a:r>
          </a:p>
        </p:txBody>
      </p:sp>
      <p:sp>
        <p:nvSpPr>
          <p:cNvPr id="5" name="Content Placeholder 4">
            <a:extLst>
              <a:ext uri="{FF2B5EF4-FFF2-40B4-BE49-F238E27FC236}">
                <a16:creationId xmlns:a16="http://schemas.microsoft.com/office/drawing/2014/main" id="{4FD60C49-4A48-73B9-D68C-283BE0FF13D3}"/>
              </a:ext>
            </a:extLst>
          </p:cNvPr>
          <p:cNvSpPr>
            <a:spLocks noGrp="1"/>
          </p:cNvSpPr>
          <p:nvPr>
            <p:ph idx="1"/>
          </p:nvPr>
        </p:nvSpPr>
        <p:spPr>
          <a:xfrm>
            <a:off x="662694" y="1352827"/>
            <a:ext cx="9603275" cy="4289690"/>
          </a:xfrm>
        </p:spPr>
        <p:txBody>
          <a:bodyPr>
            <a:normAutofit/>
          </a:bodyPr>
          <a:lstStyle/>
          <a:p>
            <a:pPr algn="just"/>
            <a:endParaRPr lang="en-IN" sz="3000" dirty="0">
              <a:latin typeface="Times New Roman" panose="02020603050405020304" pitchFamily="18" charset="0"/>
              <a:cs typeface="Times New Roman" panose="02020603050405020304" pitchFamily="18" charset="0"/>
            </a:endParaRPr>
          </a:p>
          <a:p>
            <a:pPr algn="just"/>
            <a:r>
              <a:rPr lang="en-IN" sz="3000" dirty="0">
                <a:latin typeface="Times New Roman" panose="02020603050405020304" pitchFamily="18" charset="0"/>
                <a:cs typeface="Times New Roman" panose="02020603050405020304" pitchFamily="18" charset="0"/>
              </a:rPr>
              <a:t>ABSTRACT</a:t>
            </a:r>
          </a:p>
          <a:p>
            <a:pPr algn="just"/>
            <a:r>
              <a:rPr lang="en-IN" sz="3000" dirty="0">
                <a:latin typeface="Times New Roman" panose="02020603050405020304" pitchFamily="18" charset="0"/>
                <a:cs typeface="Times New Roman" panose="02020603050405020304" pitchFamily="18" charset="0"/>
              </a:rPr>
              <a:t>INTRODUCTION</a:t>
            </a:r>
          </a:p>
          <a:p>
            <a:pPr algn="just"/>
            <a:r>
              <a:rPr lang="en-IN" sz="3000" dirty="0">
                <a:latin typeface="Times New Roman" panose="02020603050405020304" pitchFamily="18" charset="0"/>
                <a:cs typeface="Times New Roman" panose="02020603050405020304" pitchFamily="18" charset="0"/>
              </a:rPr>
              <a:t>PROPOSED SOLUTION </a:t>
            </a:r>
          </a:p>
          <a:p>
            <a:pPr algn="just"/>
            <a:r>
              <a:rPr lang="en-IN" sz="3000" dirty="0">
                <a:latin typeface="Times New Roman" panose="02020603050405020304" pitchFamily="18" charset="0"/>
                <a:cs typeface="Times New Roman" panose="02020603050405020304" pitchFamily="18" charset="0"/>
              </a:rPr>
              <a:t>FLOW CHART</a:t>
            </a:r>
          </a:p>
          <a:p>
            <a:pPr algn="just"/>
            <a:r>
              <a:rPr lang="en-IN" sz="3000" dirty="0">
                <a:latin typeface="Times New Roman" panose="02020603050405020304" pitchFamily="18" charset="0"/>
                <a:cs typeface="Times New Roman" panose="02020603050405020304" pitchFamily="18" charset="0"/>
              </a:rPr>
              <a:t>RESULT AND DISCUSSION</a:t>
            </a:r>
          </a:p>
          <a:p>
            <a:pPr algn="just"/>
            <a:r>
              <a:rPr lang="en-IN" sz="3000" dirty="0">
                <a:latin typeface="Times New Roman" panose="02020603050405020304" pitchFamily="18" charset="0"/>
                <a:cs typeface="Times New Roman" panose="02020603050405020304" pitchFamily="18" charset="0"/>
              </a:rPr>
              <a:t>CONCLUSION</a:t>
            </a:r>
          </a:p>
          <a:p>
            <a:endParaRPr lang="en-IN" sz="2800" dirty="0"/>
          </a:p>
          <a:p>
            <a:endParaRPr lang="en-IN" sz="2800"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4292514940"/>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8633D-37D2-54A8-8574-A760CC2D461F}"/>
              </a:ext>
            </a:extLst>
          </p:cNvPr>
          <p:cNvSpPr>
            <a:spLocks noGrp="1"/>
          </p:cNvSpPr>
          <p:nvPr>
            <p:ph type="title"/>
          </p:nvPr>
        </p:nvSpPr>
        <p:spPr>
          <a:xfrm>
            <a:off x="677334" y="609600"/>
            <a:ext cx="8596668" cy="717755"/>
          </a:xfrm>
        </p:spPr>
        <p:txBody>
          <a:bodyPr>
            <a:normAutofit/>
          </a:bodyPr>
          <a:lstStyle/>
          <a:p>
            <a:r>
              <a:rPr lang="en-US" sz="2800" b="1" dirty="0">
                <a:latin typeface="Times New Roman" panose="02020603050405020304" pitchFamily="18" charset="0"/>
                <a:cs typeface="Times New Roman" panose="02020603050405020304" pitchFamily="18" charset="0"/>
              </a:rPr>
              <a:t>ABSTRACT</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CB8C40-7DB6-D5E5-61B5-38BA2A366084}"/>
              </a:ext>
            </a:extLst>
          </p:cNvPr>
          <p:cNvSpPr>
            <a:spLocks noGrp="1"/>
          </p:cNvSpPr>
          <p:nvPr>
            <p:ph idx="1"/>
          </p:nvPr>
        </p:nvSpPr>
        <p:spPr>
          <a:xfrm>
            <a:off x="677334" y="1327356"/>
            <a:ext cx="8687730" cy="4842332"/>
          </a:xfrm>
        </p:spPr>
        <p:txBody>
          <a:bodyPr>
            <a:normAutofit/>
          </a:bodyPr>
          <a:lstStyle/>
          <a:p>
            <a:pPr algn="just"/>
            <a:r>
              <a:rPr lang="en-US" b="0" i="0" dirty="0">
                <a:solidFill>
                  <a:srgbClr val="0D0D0D"/>
                </a:solidFill>
                <a:effectLst/>
                <a:latin typeface="Times New Roman" panose="02020603050405020304" pitchFamily="18" charset="0"/>
                <a:cs typeface="Times New Roman" panose="02020603050405020304" pitchFamily="18" charset="0"/>
              </a:rPr>
              <a:t>This project focuses on improving climate assessment and forecasting using machine learning, which is important due to the limitations of traditional methods in accurately predicting environmental changes.</a:t>
            </a:r>
          </a:p>
          <a:p>
            <a:pPr algn="just"/>
            <a:r>
              <a:rPr lang="en-US" b="0" i="0" dirty="0">
                <a:solidFill>
                  <a:srgbClr val="0D0D0D"/>
                </a:solidFill>
                <a:effectLst/>
                <a:latin typeface="Times New Roman" panose="02020603050405020304" pitchFamily="18" charset="0"/>
                <a:cs typeface="Times New Roman" panose="02020603050405020304" pitchFamily="18" charset="0"/>
              </a:rPr>
              <a:t>Treating the environment as a liquid for assessment</a:t>
            </a:r>
          </a:p>
          <a:p>
            <a:pPr algn="just"/>
            <a:r>
              <a:rPr lang="en-US" b="0" i="0" dirty="0">
                <a:solidFill>
                  <a:srgbClr val="0D0D0D"/>
                </a:solidFill>
                <a:effectLst/>
                <a:latin typeface="Times New Roman" panose="02020603050405020304" pitchFamily="18" charset="0"/>
                <a:cs typeface="Times New Roman" panose="02020603050405020304" pitchFamily="18" charset="0"/>
              </a:rPr>
              <a:t>Observing current wind conditions</a:t>
            </a:r>
          </a:p>
          <a:p>
            <a:pPr algn="just"/>
            <a:r>
              <a:rPr lang="en-US" b="0" i="0" dirty="0">
                <a:solidFill>
                  <a:srgbClr val="0D0D0D"/>
                </a:solidFill>
                <a:effectLst/>
                <a:latin typeface="Times New Roman" panose="02020603050405020304" pitchFamily="18" charset="0"/>
                <a:cs typeface="Times New Roman" panose="02020603050405020304" pitchFamily="18" charset="0"/>
              </a:rPr>
              <a:t>Using machine learning to overcome uncertainties and improve forecast accuracy</a:t>
            </a:r>
          </a:p>
          <a:p>
            <a:pPr algn="just"/>
            <a:r>
              <a:rPr lang="en-US" dirty="0">
                <a:latin typeface="Times New Roman" panose="02020603050405020304" pitchFamily="18" charset="0"/>
                <a:cs typeface="Times New Roman" panose="02020603050405020304" pitchFamily="18" charset="0"/>
              </a:rPr>
              <a:t>This project is helpful for real-life applications because it addresses the shortcomings of traditional climate assessment methods and offers a more reliable alternative. By using machine learning, which is less affected by uncertainties and does not depend on physical laws, the project aims to enhance climate forecasting capabilities, potentially leading to more accurate and longer-term predictions</a:t>
            </a:r>
            <a:r>
              <a:rPr lang="en-US" dirty="0"/>
              <a:t>.</a:t>
            </a:r>
            <a:endParaRPr lang="en-IN" dirty="0"/>
          </a:p>
        </p:txBody>
      </p:sp>
    </p:spTree>
    <p:extLst>
      <p:ext uri="{BB962C8B-B14F-4D97-AF65-F5344CB8AC3E}">
        <p14:creationId xmlns:p14="http://schemas.microsoft.com/office/powerpoint/2010/main" val="2966001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BF15F-A283-F1B9-7790-7DE607C6BF81}"/>
              </a:ext>
            </a:extLst>
          </p:cNvPr>
          <p:cNvSpPr>
            <a:spLocks noGrp="1"/>
          </p:cNvSpPr>
          <p:nvPr>
            <p:ph type="title"/>
          </p:nvPr>
        </p:nvSpPr>
        <p:spPr/>
        <p:txBody>
          <a:bodyPr>
            <a:normAutofit/>
          </a:bodyPr>
          <a:lstStyle/>
          <a:p>
            <a:pPr algn="just"/>
            <a:r>
              <a:rPr lang="en-IN" sz="28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B2E33FB3-694B-5C0F-7E41-2325F3156ECD}"/>
              </a:ext>
            </a:extLst>
          </p:cNvPr>
          <p:cNvSpPr>
            <a:spLocks noGrp="1"/>
          </p:cNvSpPr>
          <p:nvPr>
            <p:ph idx="1"/>
          </p:nvPr>
        </p:nvSpPr>
        <p:spPr>
          <a:xfrm>
            <a:off x="677334" y="1297858"/>
            <a:ext cx="8596668" cy="4950541"/>
          </a:xfrm>
        </p:spPr>
        <p:txBody>
          <a:bodyPr>
            <a:normAutofit fontScale="55000" lnSpcReduction="20000"/>
          </a:bodyPr>
          <a:lstStyle/>
          <a:p>
            <a:r>
              <a:rPr lang="en-US" sz="4000" b="0" i="0" dirty="0">
                <a:solidFill>
                  <a:srgbClr val="0D0D0D"/>
                </a:solidFill>
                <a:effectLst/>
                <a:latin typeface="Times New Roman" panose="02020603050405020304" pitchFamily="18" charset="0"/>
                <a:cs typeface="Times New Roman" panose="02020603050405020304" pitchFamily="18" charset="0"/>
              </a:rPr>
              <a:t>Weather prediction traditionally relied on physical equations treating the atmosphere as a fluid. However, accurate forecasts beyond 10 days remain challenging.</a:t>
            </a:r>
          </a:p>
          <a:p>
            <a:r>
              <a:rPr lang="en-US" sz="4000" b="0" i="0" dirty="0">
                <a:solidFill>
                  <a:srgbClr val="0D0D0D"/>
                </a:solidFill>
                <a:effectLst/>
                <a:latin typeface="Times New Roman" panose="02020603050405020304" pitchFamily="18" charset="0"/>
                <a:cs typeface="Times New Roman" panose="02020603050405020304" pitchFamily="18" charset="0"/>
              </a:rPr>
              <a:t>Machine learning offers a promising approach to improving weather prediction by processing historical forecasts and observations, leading to more accurate models.</a:t>
            </a:r>
          </a:p>
          <a:p>
            <a:r>
              <a:rPr lang="en-US" sz="4000" b="0" i="0" dirty="0">
                <a:solidFill>
                  <a:srgbClr val="0D0D0D"/>
                </a:solidFill>
                <a:effectLst/>
                <a:latin typeface="Times New Roman" panose="02020603050405020304" pitchFamily="18" charset="0"/>
                <a:cs typeface="Times New Roman" panose="02020603050405020304" pitchFamily="18" charset="0"/>
              </a:rPr>
              <a:t>Temperature prediction is crucial for various applications, including climate studies, energy management, agriculture, and healthcare.</a:t>
            </a:r>
          </a:p>
          <a:p>
            <a:r>
              <a:rPr lang="en-US" sz="4000" b="0" i="0" dirty="0">
                <a:solidFill>
                  <a:srgbClr val="0D0D0D"/>
                </a:solidFill>
                <a:effectLst/>
                <a:latin typeface="Times New Roman" panose="02020603050405020304" pitchFamily="18" charset="0"/>
                <a:cs typeface="Times New Roman" panose="02020603050405020304" pitchFamily="18" charset="0"/>
              </a:rPr>
              <a:t>Machine learning algorithms such as Linear Regression, Polynomial Regression, Random Forest Regression, Artificial Neural Network, and K-nearest neighbor can be used to predict weather variables like minimum temperature, maximum temperature, mean air pressure, and humidity.</a:t>
            </a:r>
          </a:p>
          <a:p>
            <a:r>
              <a:rPr lang="en-US" sz="4000" b="0" i="0" dirty="0">
                <a:solidFill>
                  <a:srgbClr val="0D0D0D"/>
                </a:solidFill>
                <a:effectLst/>
                <a:latin typeface="Times New Roman" panose="02020603050405020304" pitchFamily="18" charset="0"/>
                <a:cs typeface="Times New Roman" panose="02020603050405020304" pitchFamily="18" charset="0"/>
              </a:rPr>
              <a:t>By inputting historical data, machine learning models can predict minimum and maximum temperatures for up to 7 days, helping improve long-term weather forecasting accuracy.</a:t>
            </a:r>
          </a:p>
          <a:p>
            <a:endParaRPr lang="en-IN" dirty="0"/>
          </a:p>
        </p:txBody>
      </p:sp>
    </p:spTree>
    <p:extLst>
      <p:ext uri="{BB962C8B-B14F-4D97-AF65-F5344CB8AC3E}">
        <p14:creationId xmlns:p14="http://schemas.microsoft.com/office/powerpoint/2010/main" val="32273055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92250-702E-9CE3-F224-54E0B1FCB931}"/>
              </a:ext>
            </a:extLst>
          </p:cNvPr>
          <p:cNvSpPr>
            <a:spLocks noGrp="1"/>
          </p:cNvSpPr>
          <p:nvPr>
            <p:ph type="title"/>
          </p:nvPr>
        </p:nvSpPr>
        <p:spPr>
          <a:xfrm>
            <a:off x="677334" y="224967"/>
            <a:ext cx="8596668" cy="864245"/>
          </a:xfrm>
        </p:spPr>
        <p:txBody>
          <a:bodyPr>
            <a:normAutofit/>
          </a:bodyPr>
          <a:lstStyle/>
          <a:p>
            <a:pPr algn="just"/>
            <a:r>
              <a:rPr lang="en-IN" sz="2800" dirty="0">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F8DCAFEF-3CD0-DFCA-213A-1211F9543894}"/>
              </a:ext>
            </a:extLst>
          </p:cNvPr>
          <p:cNvSpPr>
            <a:spLocks noGrp="1"/>
          </p:cNvSpPr>
          <p:nvPr>
            <p:ph idx="1"/>
          </p:nvPr>
        </p:nvSpPr>
        <p:spPr>
          <a:xfrm>
            <a:off x="677334" y="914400"/>
            <a:ext cx="8596668" cy="5365375"/>
          </a:xfrm>
        </p:spPr>
        <p:txBody>
          <a:bodyPr>
            <a:normAutofit fontScale="92500" lnSpcReduction="20000"/>
          </a:bodyPr>
          <a:lstStyle/>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Traditional weather forecasting relies on physics-based simulations, while machine learning algorithms like Linear Regression, K-nearest neighbor, and Random Forest Regression offer an alternative approach with high accuracy and predictivity.</a:t>
            </a:r>
          </a:p>
          <a:p>
            <a:pPr algn="just"/>
            <a:r>
              <a:rPr lang="en-US" sz="2400" dirty="0">
                <a:latin typeface="Times New Roman" panose="02020603050405020304" pitchFamily="18" charset="0"/>
                <a:cs typeface="Times New Roman" panose="02020603050405020304" pitchFamily="18" charset="0"/>
              </a:rPr>
              <a:t>The dataset used in this project is "Historical Weather Data for Indian Cities" from Kaggle, focusing on Kanpur City, collected using the worldweatheronline.com API.</a:t>
            </a:r>
          </a:p>
          <a:p>
            <a:pPr algn="just"/>
            <a:r>
              <a:rPr lang="en-US" sz="2400" dirty="0">
                <a:latin typeface="Times New Roman" panose="02020603050405020304" pitchFamily="18" charset="0"/>
                <a:cs typeface="Times New Roman" panose="02020603050405020304" pitchFamily="18" charset="0"/>
              </a:rPr>
              <a:t>This dataset, spanning over 10 years, can be used for visualizing the impact of global warming and predicting weather for upcoming periods.</a:t>
            </a:r>
          </a:p>
          <a:p>
            <a:pPr algn="just"/>
            <a:r>
              <a:rPr lang="en-US" sz="2400" dirty="0">
                <a:latin typeface="Times New Roman" panose="02020603050405020304" pitchFamily="18" charset="0"/>
                <a:cs typeface="Times New Roman" panose="02020603050405020304" pitchFamily="18" charset="0"/>
              </a:rPr>
              <a:t>Machine learning algorithms are trained on 80% of the data and tested on the remaining 20% to predict temperature changes accurately.</a:t>
            </a:r>
          </a:p>
          <a:p>
            <a:pPr algn="just"/>
            <a:r>
              <a:rPr lang="en-US" sz="2400" dirty="0">
                <a:latin typeface="Times New Roman" panose="02020603050405020304" pitchFamily="18" charset="0"/>
                <a:cs typeface="Times New Roman" panose="02020603050405020304" pitchFamily="18" charset="0"/>
              </a:rPr>
              <a:t>The project aims to predict temperature changes in Kanpur city using machine learning algorithms, offering insights into climate trends and enhancing weather forecasting capabilities to prevent disasters like hurricanes, tornadoes, and thunderstorms.</a:t>
            </a:r>
          </a:p>
        </p:txBody>
      </p:sp>
    </p:spTree>
    <p:extLst>
      <p:ext uri="{BB962C8B-B14F-4D97-AF65-F5344CB8AC3E}">
        <p14:creationId xmlns:p14="http://schemas.microsoft.com/office/powerpoint/2010/main" val="40962750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1354"/>
            <a:ext cx="8596668" cy="1034981"/>
          </a:xfrm>
        </p:spPr>
        <p:txBody>
          <a:bodyPr/>
          <a:lstStyle/>
          <a:p>
            <a:r>
              <a:rPr lang="en-IN" dirty="0"/>
              <a:t>Results and Discussion</a:t>
            </a:r>
            <a:endParaRPr lang="en-US" dirty="0"/>
          </a:p>
        </p:txBody>
      </p:sp>
      <p:sp>
        <p:nvSpPr>
          <p:cNvPr id="3" name="Content Placeholder 2"/>
          <p:cNvSpPr>
            <a:spLocks noGrp="1"/>
          </p:cNvSpPr>
          <p:nvPr>
            <p:ph idx="1"/>
          </p:nvPr>
        </p:nvSpPr>
        <p:spPr>
          <a:xfrm>
            <a:off x="721939" y="1316335"/>
            <a:ext cx="8596668" cy="4582048"/>
          </a:xfrm>
        </p:spPr>
        <p:txBody>
          <a:bodyPr>
            <a:normAutofit/>
          </a:bodyPr>
          <a:lstStyle/>
          <a:p>
            <a:pPr algn="just"/>
            <a:r>
              <a:rPr lang="en-US" sz="2400" b="1" dirty="0">
                <a:latin typeface="Times New Roman" panose="02020603050405020304" pitchFamily="18" charset="0"/>
                <a:cs typeface="Times New Roman" panose="02020603050405020304" pitchFamily="18" charset="0"/>
              </a:rPr>
              <a:t>Multiple Linear Regression: </a:t>
            </a:r>
            <a:r>
              <a:rPr lang="en-US" sz="2400" dirty="0">
                <a:latin typeface="Times New Roman" panose="02020603050405020304" pitchFamily="18" charset="0"/>
                <a:cs typeface="Times New Roman" panose="02020603050405020304" pitchFamily="18" charset="0"/>
              </a:rPr>
              <a:t>This model showed a high mean absolute error, indicating lower accuracy compared to other models.</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C12C3B1-5C1B-2082-9A65-5789E395C8C5}"/>
              </a:ext>
            </a:extLst>
          </p:cNvPr>
          <p:cNvPicPr>
            <a:picLocks noChangeAspect="1"/>
          </p:cNvPicPr>
          <p:nvPr/>
        </p:nvPicPr>
        <p:blipFill>
          <a:blip r:embed="rId3"/>
          <a:stretch>
            <a:fillRect/>
          </a:stretch>
        </p:blipFill>
        <p:spPr>
          <a:xfrm>
            <a:off x="3119250" y="2249157"/>
            <a:ext cx="4084674" cy="4201885"/>
          </a:xfrm>
          <a:prstGeom prst="rect">
            <a:avLst/>
          </a:prstGeom>
        </p:spPr>
      </p:pic>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68598-AB96-A67A-3842-0AE27A33E94D}"/>
              </a:ext>
            </a:extLst>
          </p:cNvPr>
          <p:cNvSpPr>
            <a:spLocks noGrp="1"/>
          </p:cNvSpPr>
          <p:nvPr>
            <p:ph type="title"/>
          </p:nvPr>
        </p:nvSpPr>
        <p:spPr>
          <a:xfrm>
            <a:off x="677334" y="609600"/>
            <a:ext cx="8596668" cy="1038330"/>
          </a:xfrm>
        </p:spPr>
        <p:txBody>
          <a:bodyPr>
            <a:noAutofit/>
          </a:bodyPr>
          <a:lstStyle/>
          <a:p>
            <a:r>
              <a:rPr lang="en-US" sz="2400" b="1" dirty="0">
                <a:solidFill>
                  <a:schemeClr val="tx1"/>
                </a:solidFill>
                <a:latin typeface="Times New Roman" panose="02020603050405020304" pitchFamily="18" charset="0"/>
                <a:cs typeface="Times New Roman" panose="02020603050405020304" pitchFamily="18" charset="0"/>
              </a:rPr>
              <a:t>Random Forest Regression: </a:t>
            </a:r>
            <a:r>
              <a:rPr lang="en-US" sz="2400" dirty="0">
                <a:solidFill>
                  <a:schemeClr val="tx1"/>
                </a:solidFill>
                <a:latin typeface="Times New Roman" panose="02020603050405020304" pitchFamily="18" charset="0"/>
                <a:cs typeface="Times New Roman" panose="02020603050405020304" pitchFamily="18" charset="0"/>
              </a:rPr>
              <a:t>This model demonstrated a low mean absolute error, indicating higher accuracy compared to the other models.</a:t>
            </a:r>
            <a:br>
              <a:rPr lang="en-US" sz="2400" dirty="0">
                <a:solidFill>
                  <a:schemeClr val="tx1"/>
                </a:solidFill>
                <a:latin typeface="Times New Roman" panose="02020603050405020304" pitchFamily="18" charset="0"/>
                <a:cs typeface="Times New Roman" panose="02020603050405020304" pitchFamily="18" charset="0"/>
              </a:rPr>
            </a:br>
            <a:endParaRPr lang="en-IN" sz="2400" dirty="0">
              <a:solidFill>
                <a:schemeClr val="tx1"/>
              </a:solidFill>
            </a:endParaRPr>
          </a:p>
        </p:txBody>
      </p:sp>
      <p:pic>
        <p:nvPicPr>
          <p:cNvPr id="5" name="Content Placeholder 4">
            <a:extLst>
              <a:ext uri="{FF2B5EF4-FFF2-40B4-BE49-F238E27FC236}">
                <a16:creationId xmlns:a16="http://schemas.microsoft.com/office/drawing/2014/main" id="{D56CB6B7-094A-8021-EC4F-A9C262F608A3}"/>
              </a:ext>
            </a:extLst>
          </p:cNvPr>
          <p:cNvPicPr>
            <a:picLocks noGrp="1" noChangeAspect="1"/>
          </p:cNvPicPr>
          <p:nvPr>
            <p:ph idx="1"/>
          </p:nvPr>
        </p:nvPicPr>
        <p:blipFill>
          <a:blip r:embed="rId2"/>
          <a:stretch>
            <a:fillRect/>
          </a:stretch>
        </p:blipFill>
        <p:spPr>
          <a:xfrm>
            <a:off x="3024554" y="1959429"/>
            <a:ext cx="3928905" cy="4288971"/>
          </a:xfrm>
        </p:spPr>
      </p:pic>
    </p:spTree>
    <p:extLst>
      <p:ext uri="{BB962C8B-B14F-4D97-AF65-F5344CB8AC3E}">
        <p14:creationId xmlns:p14="http://schemas.microsoft.com/office/powerpoint/2010/main" val="2595853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94E77-52DF-54A9-A8D0-EC47C2D95C00}"/>
              </a:ext>
            </a:extLst>
          </p:cNvPr>
          <p:cNvSpPr>
            <a:spLocks noGrp="1"/>
          </p:cNvSpPr>
          <p:nvPr>
            <p:ph type="title"/>
          </p:nvPr>
        </p:nvSpPr>
        <p:spPr>
          <a:xfrm>
            <a:off x="727576" y="599551"/>
            <a:ext cx="8596668" cy="797169"/>
          </a:xfrm>
        </p:spPr>
        <p:txBody>
          <a:bodyPr>
            <a:noAutofit/>
          </a:bodyPr>
          <a:lstStyle/>
          <a:p>
            <a:r>
              <a:rPr lang="en-US" sz="2400" b="1" dirty="0">
                <a:solidFill>
                  <a:schemeClr val="tx1"/>
                </a:solidFill>
                <a:latin typeface="Times New Roman" panose="02020603050405020304" pitchFamily="18" charset="0"/>
                <a:cs typeface="Times New Roman" panose="02020603050405020304" pitchFamily="18" charset="0"/>
              </a:rPr>
              <a:t>K-nearest Neighbor Regression: </a:t>
            </a:r>
            <a:r>
              <a:rPr lang="en-US" sz="2400" dirty="0">
                <a:solidFill>
                  <a:schemeClr val="tx1"/>
                </a:solidFill>
                <a:latin typeface="Times New Roman" panose="02020603050405020304" pitchFamily="18" charset="0"/>
                <a:cs typeface="Times New Roman" panose="02020603050405020304" pitchFamily="18" charset="0"/>
              </a:rPr>
              <a:t>This model exhibited a moderate mean absolute error, suggesting moderate accuracy.</a:t>
            </a:r>
            <a:br>
              <a:rPr lang="en-US" sz="2400" dirty="0">
                <a:solidFill>
                  <a:schemeClr val="tx1"/>
                </a:solidFill>
                <a:latin typeface="Times New Roman" panose="02020603050405020304" pitchFamily="18" charset="0"/>
                <a:cs typeface="Times New Roman" panose="02020603050405020304" pitchFamily="18" charset="0"/>
              </a:rPr>
            </a:br>
            <a:br>
              <a:rPr lang="en-US" sz="2400" dirty="0">
                <a:solidFill>
                  <a:schemeClr val="tx1"/>
                </a:solidFill>
                <a:latin typeface="Times New Roman" panose="02020603050405020304" pitchFamily="18" charset="0"/>
                <a:cs typeface="Times New Roman" panose="02020603050405020304" pitchFamily="18" charset="0"/>
              </a:rPr>
            </a:br>
            <a:br>
              <a:rPr lang="en-US" sz="2400" dirty="0">
                <a:solidFill>
                  <a:schemeClr val="tx1"/>
                </a:solidFill>
                <a:latin typeface="Times New Roman" panose="02020603050405020304" pitchFamily="18" charset="0"/>
                <a:cs typeface="Times New Roman" panose="02020603050405020304" pitchFamily="18" charset="0"/>
              </a:rPr>
            </a:br>
            <a:br>
              <a:rPr lang="en-US" sz="2400" dirty="0">
                <a:solidFill>
                  <a:schemeClr val="tx1"/>
                </a:solidFill>
                <a:latin typeface="Times New Roman" panose="02020603050405020304" pitchFamily="18" charset="0"/>
                <a:cs typeface="Times New Roman" panose="02020603050405020304" pitchFamily="18" charset="0"/>
              </a:rPr>
            </a:br>
            <a:br>
              <a:rPr lang="en-US" sz="2400" dirty="0">
                <a:solidFill>
                  <a:schemeClr val="tx1"/>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Overall, the Random Forest Regression model</a:t>
            </a:r>
            <a:br>
              <a:rPr lang="en-US" sz="2400" dirty="0">
                <a:solidFill>
                  <a:schemeClr val="tx1"/>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performed the best among the three, showing the </a:t>
            </a:r>
            <a:br>
              <a:rPr lang="en-US" sz="2400" dirty="0">
                <a:solidFill>
                  <a:schemeClr val="tx1"/>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lowest mean absolute error and thus the </a:t>
            </a:r>
            <a:br>
              <a:rPr lang="en-US" sz="2400" dirty="0">
                <a:solidFill>
                  <a:schemeClr val="tx1"/>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highest accuracy in predicting temperature changes </a:t>
            </a:r>
            <a:br>
              <a:rPr lang="en-US" sz="2400" dirty="0">
                <a:solidFill>
                  <a:schemeClr val="tx1"/>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for Kanpur city.</a:t>
            </a:r>
            <a:br>
              <a:rPr lang="en-US" sz="2400" dirty="0">
                <a:solidFill>
                  <a:schemeClr val="tx1"/>
                </a:solidFill>
                <a:latin typeface="Times New Roman" panose="02020603050405020304" pitchFamily="18" charset="0"/>
                <a:cs typeface="Times New Roman" panose="02020603050405020304" pitchFamily="18" charset="0"/>
              </a:rPr>
            </a:br>
            <a:endParaRPr lang="en-IN" sz="2400" dirty="0">
              <a:solidFill>
                <a:schemeClr val="tx1"/>
              </a:solidFill>
            </a:endParaRPr>
          </a:p>
        </p:txBody>
      </p:sp>
      <p:pic>
        <p:nvPicPr>
          <p:cNvPr id="5" name="Content Placeholder 4">
            <a:extLst>
              <a:ext uri="{FF2B5EF4-FFF2-40B4-BE49-F238E27FC236}">
                <a16:creationId xmlns:a16="http://schemas.microsoft.com/office/drawing/2014/main" id="{39637F08-59A2-1684-84AD-7988F5928D75}"/>
              </a:ext>
            </a:extLst>
          </p:cNvPr>
          <p:cNvPicPr>
            <a:picLocks noGrp="1" noChangeAspect="1"/>
          </p:cNvPicPr>
          <p:nvPr>
            <p:ph idx="1"/>
          </p:nvPr>
        </p:nvPicPr>
        <p:blipFill>
          <a:blip r:embed="rId2"/>
          <a:stretch>
            <a:fillRect/>
          </a:stretch>
        </p:blipFill>
        <p:spPr>
          <a:xfrm>
            <a:off x="7274380" y="1573596"/>
            <a:ext cx="4421275" cy="4414192"/>
          </a:xfrm>
        </p:spPr>
      </p:pic>
    </p:spTree>
    <p:extLst>
      <p:ext uri="{BB962C8B-B14F-4D97-AF65-F5344CB8AC3E}">
        <p14:creationId xmlns:p14="http://schemas.microsoft.com/office/powerpoint/2010/main" val="2521155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1797B-F320-7A73-3229-5A78E984B93D}"/>
              </a:ext>
            </a:extLst>
          </p:cNvPr>
          <p:cNvSpPr>
            <a:spLocks noGrp="1"/>
          </p:cNvSpPr>
          <p:nvPr>
            <p:ph type="title"/>
          </p:nvPr>
        </p:nvSpPr>
        <p:spPr>
          <a:xfrm>
            <a:off x="677334" y="371789"/>
            <a:ext cx="8596668" cy="60290"/>
          </a:xfrm>
        </p:spPr>
        <p:txBody>
          <a:bodyPr>
            <a:normAutofit fontScale="90000"/>
          </a:bodyPr>
          <a:lstStyle/>
          <a:p>
            <a:r>
              <a:rPr lang="en-US" dirty="0"/>
              <a:t>.</a:t>
            </a:r>
            <a:endParaRPr lang="en-IN" dirty="0"/>
          </a:p>
        </p:txBody>
      </p:sp>
      <p:pic>
        <p:nvPicPr>
          <p:cNvPr id="5" name="Content Placeholder 4">
            <a:extLst>
              <a:ext uri="{FF2B5EF4-FFF2-40B4-BE49-F238E27FC236}">
                <a16:creationId xmlns:a16="http://schemas.microsoft.com/office/drawing/2014/main" id="{08AC5B7A-5FE8-4843-505A-DFF148036BFA}"/>
              </a:ext>
            </a:extLst>
          </p:cNvPr>
          <p:cNvPicPr>
            <a:picLocks noGrp="1" noChangeAspect="1"/>
          </p:cNvPicPr>
          <p:nvPr>
            <p:ph idx="1"/>
          </p:nvPr>
        </p:nvPicPr>
        <p:blipFill>
          <a:blip r:embed="rId2"/>
          <a:stretch>
            <a:fillRect/>
          </a:stretch>
        </p:blipFill>
        <p:spPr>
          <a:xfrm>
            <a:off x="432078" y="371789"/>
            <a:ext cx="10450287" cy="6114422"/>
          </a:xfrm>
        </p:spPr>
      </p:pic>
    </p:spTree>
    <p:extLst>
      <p:ext uri="{BB962C8B-B14F-4D97-AF65-F5344CB8AC3E}">
        <p14:creationId xmlns:p14="http://schemas.microsoft.com/office/powerpoint/2010/main" val="3656304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BFBBC3-7747-5040-21FD-EB23B9A57131}"/>
              </a:ext>
            </a:extLst>
          </p:cNvPr>
          <p:cNvSpPr>
            <a:spLocks noGrp="1"/>
          </p:cNvSpPr>
          <p:nvPr>
            <p:ph type="title"/>
          </p:nvPr>
        </p:nvSpPr>
        <p:spPr>
          <a:xfrm>
            <a:off x="677334" y="120581"/>
            <a:ext cx="8596668" cy="693336"/>
          </a:xfrm>
        </p:spPr>
        <p:txBody>
          <a:bodyPr>
            <a:noAutofit/>
          </a:bodyPr>
          <a:lstStyle/>
          <a:p>
            <a:r>
              <a:rPr lang="en-US" dirty="0"/>
              <a:t>                   </a:t>
            </a: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CONCLUSION</a:t>
            </a:r>
            <a:b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br>
            <a:endParaRPr lang="en-IN" dirty="0"/>
          </a:p>
        </p:txBody>
      </p:sp>
      <p:sp>
        <p:nvSpPr>
          <p:cNvPr id="2" name="Content Placeholder 1">
            <a:extLst>
              <a:ext uri="{FF2B5EF4-FFF2-40B4-BE49-F238E27FC236}">
                <a16:creationId xmlns:a16="http://schemas.microsoft.com/office/drawing/2014/main" id="{2A2E4298-D132-6F08-0C8B-50F5EE553521}"/>
              </a:ext>
            </a:extLst>
          </p:cNvPr>
          <p:cNvSpPr>
            <a:spLocks noGrp="1"/>
          </p:cNvSpPr>
          <p:nvPr>
            <p:ph idx="1"/>
          </p:nvPr>
        </p:nvSpPr>
        <p:spPr>
          <a:xfrm>
            <a:off x="677334" y="894303"/>
            <a:ext cx="8596668" cy="5963697"/>
          </a:xfrm>
        </p:spPr>
        <p:txBody>
          <a:bodyPr>
            <a:noAutofit/>
          </a:bodyPr>
          <a:lstStyle/>
          <a:p>
            <a:pPr>
              <a:lnSpc>
                <a:spcPct val="115000"/>
              </a:lnSpc>
              <a:spcAft>
                <a:spcPts val="1000"/>
              </a:spcAft>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Expert climate determining apparatuses initially outperformed all machine learning models, but over time, the error in our models reduced significantly, indicating potential for long-term superiority.</a:t>
            </a:r>
          </a:p>
          <a:p>
            <a:pPr>
              <a:lnSpc>
                <a:spcPct val="115000"/>
              </a:lnSpc>
              <a:spcAft>
                <a:spcPts val="1000"/>
              </a:spcAft>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Linear regression showed low bias and high variance, while polynomial regression exhibited high bias and low variance.</a:t>
            </a:r>
          </a:p>
          <a:p>
            <a:pPr>
              <a:lnSpc>
                <a:spcPct val="115000"/>
              </a:lnSpc>
              <a:spcAft>
                <a:spcPts val="1000"/>
              </a:spcAft>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Linear regression's high variance can be improved by gathering more data, while the bias of polynomial regression suggests its predictions may not benefit from additional data.</a:t>
            </a:r>
          </a:p>
          <a:p>
            <a:pPr>
              <a:lnSpc>
                <a:spcPct val="115000"/>
              </a:lnSpc>
              <a:spcAft>
                <a:spcPts val="1000"/>
              </a:spcAft>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Practical regression showed high bias, possibly due to its reliance on the weather of the previous two days, which may not capture longer trends. Future work could explore using more historical data to reduce bias.</a:t>
            </a:r>
          </a:p>
          <a:p>
            <a:pPr>
              <a:lnSpc>
                <a:spcPct val="115000"/>
              </a:lnSpc>
              <a:spcAft>
                <a:spcPts val="1000"/>
              </a:spcAft>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Random Forest Regression emerged as the most accurate model, likely due to its popularity for its high accuracy and versatility.</a:t>
            </a:r>
          </a:p>
          <a:p>
            <a:pPr marL="0" indent="0">
              <a:lnSpc>
                <a:spcPct val="115000"/>
              </a:lnSpc>
              <a:spcAft>
                <a:spcPts val="1000"/>
              </a:spcAft>
              <a:buNone/>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Weather forecasting faces the challenge of predicting precise outcomes due to the complex nature of parameters, each with different ranges of values. This forecasting is crucial for various industries like power facilities, airports, and tourism centers.</a:t>
            </a:r>
          </a:p>
        </p:txBody>
      </p:sp>
    </p:spTree>
    <p:extLst>
      <p:ext uri="{BB962C8B-B14F-4D97-AF65-F5344CB8AC3E}">
        <p14:creationId xmlns:p14="http://schemas.microsoft.com/office/powerpoint/2010/main" val="250690262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GIT HUB Link and LINKDIN LINK</a:t>
            </a:r>
            <a:endParaRPr lang="en-US" dirty="0"/>
          </a:p>
        </p:txBody>
      </p:sp>
      <p:sp>
        <p:nvSpPr>
          <p:cNvPr id="3" name="Content Placeholder 2"/>
          <p:cNvSpPr>
            <a:spLocks noGrp="1"/>
          </p:cNvSpPr>
          <p:nvPr>
            <p:ph idx="1"/>
          </p:nvPr>
        </p:nvSpPr>
        <p:spPr/>
        <p:txBody>
          <a:bodyPr/>
          <a:lstStyle/>
          <a:p>
            <a:r>
              <a:rPr lang="en-US" sz="1800" dirty="0">
                <a:effectLst/>
                <a:latin typeface="Times New Roman" panose="02020603050405020304" pitchFamily="18" charset="0"/>
                <a:ea typeface="Calibri" panose="020F0502020204030204" pitchFamily="34" charset="0"/>
                <a:cs typeface="Calibri" panose="020F0502020204030204" pitchFamily="34" charset="0"/>
                <a:hlinkClick r:id="rId2"/>
              </a:rPr>
              <a:t>https://github.com/pavankalyan003</a:t>
            </a:r>
            <a:endParaRPr lang="en-US" sz="1800" dirty="0">
              <a:effectLst/>
              <a:latin typeface="Times New Roman" panose="02020603050405020304" pitchFamily="18" charset="0"/>
              <a:ea typeface="Calibri" panose="020F0502020204030204" pitchFamily="34" charset="0"/>
              <a:cs typeface="Calibri" panose="020F0502020204030204" pitchFamily="34" charset="0"/>
            </a:endParaRP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endParaRPr lang="en-US" dirty="0"/>
          </a:p>
        </p:txBody>
      </p:sp>
      <p:sp>
        <p:nvSpPr>
          <p:cNvPr id="3" name="Content Placeholder 2"/>
          <p:cNvSpPr>
            <a:spLocks noGrp="1"/>
          </p:cNvSpPr>
          <p:nvPr>
            <p:ph idx="1"/>
          </p:nvPr>
        </p:nvSpPr>
        <p:spPr>
          <a:xfrm>
            <a:off x="677334" y="1881809"/>
            <a:ext cx="8596668" cy="3880773"/>
          </a:xfrm>
        </p:spPr>
        <p:txBody>
          <a:bodyPr>
            <a:normAutofit/>
          </a:bodyPr>
          <a:lstStyle/>
          <a:p>
            <a:r>
              <a:rPr lang="en-US" sz="3600" dirty="0">
                <a:hlinkClick r:id="rId2"/>
              </a:rPr>
              <a:t>Kanpur Weather Data (kaggle.com)</a:t>
            </a:r>
            <a:endParaRPr lang="en-US" sz="3600" dirty="0"/>
          </a:p>
          <a:p>
            <a:endParaRPr lang="en-US" sz="36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1986</TotalTime>
  <Words>782</Words>
  <Application>Microsoft Office PowerPoint</Application>
  <PresentationFormat>Widescreen</PresentationFormat>
  <Paragraphs>61</Paragraphs>
  <Slides>12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Times New Roman</vt:lpstr>
      <vt:lpstr>Trebuchet MS</vt:lpstr>
      <vt:lpstr>Wingdings 3</vt:lpstr>
      <vt:lpstr>Facet</vt:lpstr>
      <vt:lpstr>    AI &amp; ML Laboratory Project on Predicting Weather Patterns</vt:lpstr>
      <vt:lpstr>Plan of Talk</vt:lpstr>
      <vt:lpstr>ABSTRACT</vt:lpstr>
      <vt:lpstr>INTRODUCTION</vt:lpstr>
      <vt:lpstr>PROPOSED Solution</vt:lpstr>
      <vt:lpstr>Results and Discussion</vt:lpstr>
      <vt:lpstr>Random Forest Regression: This model demonstrated a low mean absolute error, indicating higher accuracy compared to the other models. </vt:lpstr>
      <vt:lpstr>K-nearest Neighbor Regression: This model exhibited a moderate mean absolute error, suggesting moderate accuracy.     Overall, the Random Forest Regression model performed the best among the three, showing the  lowest mean absolute error and thus the  highest accuracy in predicting temperature changes  for Kanpur city. </vt:lpstr>
      <vt:lpstr>.</vt:lpstr>
      <vt:lpstr>                   CONCLUSION </vt:lpstr>
      <vt:lpstr>GIT HUB Link and LINKDIN LINK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LOGIN SYSTEM</dc:title>
  <dc:creator>vignesh merugu</dc:creator>
  <cp:lastModifiedBy>RISHI CHAND</cp:lastModifiedBy>
  <cp:revision>37</cp:revision>
  <dcterms:created xsi:type="dcterms:W3CDTF">2022-10-21T15:18:50Z</dcterms:created>
  <dcterms:modified xsi:type="dcterms:W3CDTF">2025-11-25T07:20:04Z</dcterms:modified>
</cp:coreProperties>
</file>